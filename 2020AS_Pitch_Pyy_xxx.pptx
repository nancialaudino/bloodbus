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7"/>
  </p:notesMasterIdLst>
  <p:sldIdLst>
    <p:sldId id="273" r:id="rId2"/>
    <p:sldId id="298" r:id="rId3"/>
    <p:sldId id="275" r:id="rId4"/>
    <p:sldId id="300" r:id="rId5"/>
    <p:sldId id="277" r:id="rId6"/>
    <p:sldId id="299" r:id="rId7"/>
    <p:sldId id="278" r:id="rId8"/>
    <p:sldId id="288" r:id="rId9"/>
    <p:sldId id="296" r:id="rId10"/>
    <p:sldId id="282" r:id="rId11"/>
    <p:sldId id="285" r:id="rId12"/>
    <p:sldId id="286" r:id="rId13"/>
    <p:sldId id="287" r:id="rId14"/>
    <p:sldId id="289" r:id="rId15"/>
    <p:sldId id="295" r:id="rId1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2C54B-4EC7-43BD-A7D2-8C7804152722}">
          <p14:sldIdLst>
            <p14:sldId id="273"/>
            <p14:sldId id="298"/>
            <p14:sldId id="275"/>
            <p14:sldId id="300"/>
            <p14:sldId id="277"/>
            <p14:sldId id="299"/>
            <p14:sldId id="278"/>
          </p14:sldIdLst>
        </p14:section>
        <p14:section name="2º Pitch" id="{CE234EBE-B1C1-43D8-8F9A-847631EF3BFA}">
          <p14:sldIdLst>
            <p14:sldId id="288"/>
            <p14:sldId id="296"/>
            <p14:sldId id="282"/>
            <p14:sldId id="285"/>
            <p14:sldId id="286"/>
            <p14:sldId id="287"/>
            <p14:sldId id="289"/>
            <p14:sldId id="295"/>
          </p14:sldIdLst>
        </p14:section>
        <p14:section name="3º Pitch" id="{4DB5303C-AD14-4F2A-9B42-ED168E74B9BE}">
          <p14:sldIdLst/>
        </p14:section>
        <p14:section name="4º Pitch" id="{4B87C017-E282-4550-ACB9-7F232BC9ED0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76117" autoAdjust="0"/>
  </p:normalViewPr>
  <p:slideViewPr>
    <p:cSldViewPr snapToGrid="0" snapToObjects="1">
      <p:cViewPr varScale="1">
        <p:scale>
          <a:sx n="97" d="100"/>
          <a:sy n="97" d="100"/>
        </p:scale>
        <p:origin x="656" y="192"/>
      </p:cViewPr>
      <p:guideLst>
        <p:guide orient="horz" pos="2160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3DD93-0FD5-1D4F-A888-4F5E9AA6BB38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8B911-AB6C-7849-82B5-8F8FC50B6FE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6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611086"/>
            <a:ext cx="10663358" cy="469128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5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8015423" cy="6866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6072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886199"/>
            <a:ext cx="4651819" cy="1295401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8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289" y="5338842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930188" cy="686199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59710" y="952854"/>
            <a:ext cx="4151305" cy="261584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59710" y="3924301"/>
            <a:ext cx="4151305" cy="1188044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47363" y="5412540"/>
            <a:ext cx="4651819" cy="535874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501" y="5263645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798853"/>
            <a:ext cx="5363110" cy="5332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53318" y="1164610"/>
            <a:ext cx="4651819" cy="25781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3318" y="3920597"/>
            <a:ext cx="4651819" cy="127920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53317" y="537759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959" y="5340320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959710" y="791283"/>
            <a:ext cx="4787947" cy="476043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07904" y="1105469"/>
            <a:ext cx="4151305" cy="281918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07903" y="4094327"/>
            <a:ext cx="4151305" cy="1173699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59710" y="5721385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DE383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87" y="799349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449"/>
            <a:ext cx="6897189" cy="6857551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8487" y="621514"/>
            <a:ext cx="5918440" cy="3550647"/>
          </a:xfrm>
          <a:prstGeom prst="rect">
            <a:avLst/>
          </a:prstGeom>
        </p:spPr>
        <p:txBody>
          <a:bodyPr anchor="ctr"/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8485" y="4345003"/>
            <a:ext cx="5918441" cy="1655762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200" b="1" i="0" smtClean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08485" y="6173607"/>
            <a:ext cx="5918442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760" y="5543655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7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48"/>
            <a:ext cx="494270" cy="6008911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091227" cy="1270535"/>
          </a:xfrm>
          <a:prstGeom prst="rect">
            <a:avLst/>
          </a:prstGeom>
        </p:spPr>
        <p:txBody>
          <a:bodyPr anchor="ctr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44827"/>
            <a:ext cx="80912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71" y="5680318"/>
            <a:ext cx="3059713" cy="8650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6651"/>
            <a:ext cx="493648" cy="600134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00373" y="856648"/>
            <a:ext cx="8103927" cy="1270535"/>
          </a:xfrm>
          <a:prstGeom prst="rect">
            <a:avLst/>
          </a:prstGeom>
        </p:spPr>
        <p:txBody>
          <a:bodyPr anchor="t"/>
          <a:lstStyle>
            <a:lvl1pPr algn="l">
              <a:defRPr sz="4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0372" y="2432127"/>
            <a:ext cx="8103928" cy="1655762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6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900372" y="4782346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99" y="5623694"/>
            <a:ext cx="2946492" cy="8336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1" y="449"/>
            <a:ext cx="1944026" cy="1932853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054495" y="172763"/>
            <a:ext cx="9791005" cy="1125860"/>
          </a:xfrm>
          <a:prstGeom prst="rect">
            <a:avLst/>
          </a:prstGeom>
        </p:spPr>
        <p:txBody>
          <a:bodyPr anchor="ctr"/>
          <a:lstStyle>
            <a:lvl1pPr algn="l">
              <a:defRPr sz="40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54494" y="1433015"/>
            <a:ext cx="9791005" cy="5002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494" y="4155563"/>
            <a:ext cx="4651819" cy="53587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rgbClr val="706F6F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modify the text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178" y="5387596"/>
            <a:ext cx="2946492" cy="8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3476" y="-33038"/>
            <a:ext cx="6553314" cy="483149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715919" y="621870"/>
            <a:ext cx="3535704" cy="287509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7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913" y="1816444"/>
            <a:ext cx="8738697" cy="504155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2593249" y="2899674"/>
            <a:ext cx="3535704" cy="3424926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673100" y="787401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233318" y="1269242"/>
            <a:ext cx="4100681" cy="4121624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39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3263900" y="1765300"/>
            <a:ext cx="5122137" cy="5092700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748949" y="2290075"/>
            <a:ext cx="4239352" cy="4432058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922478" y="6475912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593" y="332924"/>
            <a:ext cx="585701" cy="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24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92424"/>
            <a:ext cx="444843" cy="586557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Trebuchet MS" panose="020B0603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Font typeface="Trebuchet MS" panose="020B0603020202020204" pitchFamily="34" charset="0"/>
              <a:buChar char="–"/>
              <a:defRPr sz="18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487017"/>
            <a:ext cx="543663" cy="5364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280" y="1717675"/>
            <a:ext cx="10961319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83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36115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342900"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715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3936" y="208723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45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231714"/>
            <a:ext cx="9516107" cy="410247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747696"/>
            <a:ext cx="9516107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1014241" y="1717675"/>
            <a:ext cx="5130920" cy="458470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831"/>
              </a:buClr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685800" indent="-28575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 baseline="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286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/>
              <a:t>Text 2</a:t>
            </a:r>
            <a:endParaRPr lang="en-US" noProof="0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432487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747587" cy="1059513"/>
          </a:xfrm>
          <a:prstGeom prst="rect">
            <a:avLst/>
          </a:prstGeom>
        </p:spPr>
      </p:pic>
      <p:sp>
        <p:nvSpPr>
          <p:cNvPr id="12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150" y="16158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9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541223"/>
            <a:ext cx="444843" cy="6316777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91454" y="541223"/>
            <a:ext cx="11036984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1454" y="1059513"/>
            <a:ext cx="11036984" cy="38622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6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592138" y="1717675"/>
            <a:ext cx="5783262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28650" indent="-285750">
              <a:buClr>
                <a:schemeClr val="bg2">
                  <a:lumMod val="25000"/>
                </a:schemeClr>
              </a:buClr>
              <a:buFont typeface="Verdana" panose="020B0604030504040204" pitchFamily="34" charset="0"/>
              <a:buChar char="‒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51435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noProof="0" dirty="0"/>
          </a:p>
        </p:txBody>
      </p:sp>
      <p:sp>
        <p:nvSpPr>
          <p:cNvPr id="7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79098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3875" y="478139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939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108882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8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624864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41194" y="1717675"/>
            <a:ext cx="6034205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342900" indent="-342900">
              <a:buClr>
                <a:schemeClr val="bg2">
                  <a:lumMod val="2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 marL="8001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Sdfgf</a:t>
            </a:r>
            <a:endParaRPr lang="es-ES" noProof="0" dirty="0"/>
          </a:p>
          <a:p>
            <a:pPr marL="685800" marR="0" lvl="2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noProof="0" dirty="0" err="1"/>
              <a:t>fsdfsfsgf</a:t>
            </a:r>
            <a:endParaRPr lang="en-US" noProof="0" dirty="0"/>
          </a:p>
        </p:txBody>
      </p:sp>
      <p:sp>
        <p:nvSpPr>
          <p:cNvPr id="6" name="Marcador de imagen 15"/>
          <p:cNvSpPr>
            <a:spLocks noGrp="1"/>
          </p:cNvSpPr>
          <p:nvPr>
            <p:ph type="pic" sz="quarter" idx="11" hasCustomPrompt="1"/>
          </p:nvPr>
        </p:nvSpPr>
        <p:spPr>
          <a:xfrm>
            <a:off x="6659563" y="1717675"/>
            <a:ext cx="4968875" cy="4584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06F6F"/>
                </a:solidFill>
              </a:defRPr>
            </a:lvl1pPr>
          </a:lstStyle>
          <a:p>
            <a:r>
              <a:rPr lang="en-US" dirty="0"/>
              <a:t>Image</a:t>
            </a:r>
          </a:p>
          <a:p>
            <a:endParaRPr lang="en-US" dirty="0"/>
          </a:p>
        </p:txBody>
      </p:sp>
      <p:sp>
        <p:nvSpPr>
          <p:cNvPr id="7" name="CuadroTexto 6"/>
          <p:cNvSpPr txBox="1"/>
          <p:nvPr userDrawn="1"/>
        </p:nvSpPr>
        <p:spPr>
          <a:xfrm>
            <a:off x="9922478" y="6451198"/>
            <a:ext cx="1804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Internal use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33554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3631" y="64717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640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1014241" y="54290"/>
            <a:ext cx="9516107" cy="410247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rgbClr val="DE3831"/>
                </a:solidFill>
              </a:defRPr>
            </a:lvl1pPr>
          </a:lstStyle>
          <a:p>
            <a:r>
              <a:rPr lang="es-ES_tradnl" dirty="0"/>
              <a:t>CLICK TO EDIT TITLE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14241" y="570272"/>
            <a:ext cx="9516107" cy="38622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smtClean="0">
                <a:solidFill>
                  <a:srgbClr val="DE383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change the subtitle</a:t>
            </a:r>
          </a:p>
        </p:txBody>
      </p:sp>
      <p:sp>
        <p:nvSpPr>
          <p:cNvPr id="5" name="Marcador de texto 13"/>
          <p:cNvSpPr>
            <a:spLocks noGrp="1"/>
          </p:cNvSpPr>
          <p:nvPr>
            <p:ph type="body" sz="quarter" idx="10" hasCustomPrompt="1"/>
          </p:nvPr>
        </p:nvSpPr>
        <p:spPr>
          <a:xfrm>
            <a:off x="327546" y="1717675"/>
            <a:ext cx="5681138" cy="45847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706F6F"/>
                </a:solidFill>
              </a:defRPr>
            </a:lvl1pPr>
            <a:lvl2pPr marL="685800" indent="-342900">
              <a:buClr>
                <a:schemeClr val="bg2">
                  <a:lumMod val="25000"/>
                </a:schemeClr>
              </a:buClr>
              <a:buFont typeface="Trebuchet MS" panose="020B0603020202020204" pitchFamily="34" charset="0"/>
              <a:buChar char="–"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356" y="6370253"/>
            <a:ext cx="56085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DE3831"/>
                </a:solidFill>
              </a:defRPr>
            </a:lvl1pPr>
          </a:lstStyle>
          <a:p>
            <a:fld id="{E29469E3-F7C2-0343-AD03-CE704401D5F1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Marcador de texto 13"/>
          <p:cNvSpPr>
            <a:spLocks noGrp="1"/>
          </p:cNvSpPr>
          <p:nvPr>
            <p:ph type="body" sz="quarter" idx="13" hasCustomPrompt="1"/>
          </p:nvPr>
        </p:nvSpPr>
        <p:spPr>
          <a:xfrm>
            <a:off x="6485893" y="1717675"/>
            <a:ext cx="5130920" cy="45847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706F6F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modify the text</a:t>
            </a:r>
          </a:p>
        </p:txBody>
      </p:sp>
      <p:sp>
        <p:nvSpPr>
          <p:cNvPr id="10" name="Rectángulo 9"/>
          <p:cNvSpPr/>
          <p:nvPr userDrawn="1"/>
        </p:nvSpPr>
        <p:spPr>
          <a:xfrm>
            <a:off x="0" y="-18571"/>
            <a:ext cx="1014241" cy="1008412"/>
          </a:xfrm>
          <a:prstGeom prst="rect">
            <a:avLst/>
          </a:prstGeom>
          <a:solidFill>
            <a:srgbClr val="DE38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41593" y="33858"/>
            <a:ext cx="543663" cy="53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9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7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33" r:id="rId2"/>
    <p:sldLayoutId id="2147483734" r:id="rId3"/>
    <p:sldLayoutId id="2147483742" r:id="rId4"/>
    <p:sldLayoutId id="2147483743" r:id="rId5"/>
    <p:sldLayoutId id="2147483744" r:id="rId6"/>
    <p:sldLayoutId id="2147483736" r:id="rId7"/>
    <p:sldLayoutId id="2147483735" r:id="rId8"/>
    <p:sldLayoutId id="2147483746" r:id="rId9"/>
    <p:sldLayoutId id="2147483738" r:id="rId10"/>
    <p:sldLayoutId id="2147483739" r:id="rId11"/>
    <p:sldLayoutId id="2147483747" r:id="rId12"/>
    <p:sldLayoutId id="2147483748" r:id="rId13"/>
    <p:sldLayoutId id="2147483737" r:id="rId14"/>
    <p:sldLayoutId id="2147483740" r:id="rId15"/>
    <p:sldLayoutId id="2147483751" r:id="rId16"/>
    <p:sldLayoutId id="2147483741" r:id="rId17"/>
    <p:sldLayoutId id="2147483745" r:id="rId18"/>
    <p:sldLayoutId id="2147483749" r:id="rId19"/>
    <p:sldLayoutId id="214748375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mailto:nancialaudino@gmail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mailto:tomas@ahnfelt.com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nancialaudino/BloodBus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rankingthebrands.com/The-Brand-Rankings.aspx?rankingID=129&amp;year=1338" TargetMode="Externa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000" dirty="0"/>
              <a:t>«</a:t>
            </a:r>
            <a:r>
              <a:rPr lang="es-ES" sz="4000" dirty="0" err="1"/>
              <a:t>BloodBus</a:t>
            </a:r>
            <a:r>
              <a:rPr lang="es-ES" sz="4000" dirty="0"/>
              <a:t>»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sz="1800" dirty="0"/>
              <a:t>2020/2021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5E3B2A0-9C89-414A-BC6C-AB85B6AA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33" y="1571083"/>
            <a:ext cx="2866832" cy="33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3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da «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16447"/>
            <a:ext cx="7626389" cy="5704677"/>
          </a:xfrm>
        </p:spPr>
        <p:txBody>
          <a:bodyPr/>
          <a:lstStyle/>
          <a:p>
            <a:pPr marL="342900" lvl="1" indent="0" algn="just">
              <a:buNone/>
            </a:pPr>
            <a:r>
              <a:rPr lang="pt-PT" dirty="0" err="1">
                <a:solidFill>
                  <a:schemeClr val="tx1"/>
                </a:solidFill>
              </a:rPr>
              <a:t>Nancia</a:t>
            </a:r>
            <a:r>
              <a:rPr lang="pt-PT" dirty="0">
                <a:solidFill>
                  <a:schemeClr val="tx1"/>
                </a:solidFill>
              </a:rPr>
              <a:t> </a:t>
            </a:r>
            <a:r>
              <a:rPr lang="pt-PT" dirty="0" err="1">
                <a:solidFill>
                  <a:schemeClr val="tx1"/>
                </a:solidFill>
              </a:rPr>
              <a:t>Laudino</a:t>
            </a:r>
            <a:r>
              <a:rPr lang="pt-PT" dirty="0">
                <a:solidFill>
                  <a:schemeClr val="tx1"/>
                </a:solidFill>
              </a:rPr>
              <a:t>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nancialaudino@gmail.com</a:t>
            </a:r>
            <a:r>
              <a:rPr lang="pt-PT" dirty="0">
                <a:solidFill>
                  <a:schemeClr val="tx1"/>
                </a:solidFill>
              </a:rPr>
              <a:t>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r>
              <a:rPr lang="pt-PT" sz="1800" dirty="0" err="1"/>
              <a:t>Nancia</a:t>
            </a:r>
            <a:r>
              <a:rPr lang="pt-PT" sz="1800" dirty="0"/>
              <a:t> </a:t>
            </a:r>
            <a:r>
              <a:rPr lang="pt-PT" sz="1800" dirty="0" err="1"/>
              <a:t>Laudino</a:t>
            </a:r>
            <a:r>
              <a:rPr lang="pt-PT" sz="1800" dirty="0"/>
              <a:t> (</a:t>
            </a:r>
            <a:r>
              <a:rPr lang="pt-PT" sz="1800" dirty="0" err="1"/>
              <a:t>female</a:t>
            </a:r>
            <a:r>
              <a:rPr lang="pt-PT" sz="1800" dirty="0"/>
              <a:t>) é estudante do 3º ano do curso de Engenharia Informática no IADE/Universidade Europeia. Tem bastante interesse em Informática e futuramente após o Mestrado/Pós Graduação, pretende exercer uma profissão relacionada com a área.</a:t>
            </a:r>
          </a:p>
          <a:p>
            <a:pPr marL="342900" lvl="1" indent="0" algn="just">
              <a:buNone/>
            </a:pPr>
            <a:endParaRPr lang="pt-PT" sz="18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Haskell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</a:t>
            </a: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Scratch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Linguagem C</a:t>
            </a: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- Visual Basic</a:t>
            </a:r>
            <a:endParaRPr lang="pt-PT" sz="1800" dirty="0">
              <a:solidFill>
                <a:schemeClr val="bg2">
                  <a:lumMod val="10000"/>
                </a:schemeClr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800100" lvl="2" indent="0" algn="just">
              <a:buNone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  - Java</a:t>
            </a:r>
          </a:p>
          <a:p>
            <a:pPr lvl="2" algn="just">
              <a:buFontTx/>
              <a:buChar char="-"/>
            </a:pPr>
            <a:r>
              <a:rPr lang="pt-PT" sz="1800" dirty="0" err="1">
                <a:solidFill>
                  <a:schemeClr val="bg2">
                    <a:lumMod val="50000"/>
                  </a:schemeClr>
                </a:solidFill>
              </a:rPr>
              <a:t>Python</a:t>
            </a:r>
            <a:endParaRPr lang="pt-PT" sz="1800" dirty="0">
              <a:solidFill>
                <a:schemeClr val="bg2">
                  <a:lumMod val="50000"/>
                </a:schemeClr>
              </a:solidFill>
            </a:endParaRPr>
          </a:p>
          <a:p>
            <a:pPr lvl="2" algn="just">
              <a:buFontTx/>
              <a:buChar char="-"/>
            </a:pPr>
            <a:r>
              <a:rPr lang="pt-PT" sz="1800" dirty="0">
                <a:solidFill>
                  <a:schemeClr val="bg2">
                    <a:lumMod val="50000"/>
                  </a:schemeClr>
                </a:solidFill>
              </a:rPr>
              <a:t>HTML/CSS</a:t>
            </a:r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Imagem 6" descr="Uma imagem com pessoa, parede, interior, pose&#10;&#10;Descrição gerada automaticamente">
            <a:extLst>
              <a:ext uri="{FF2B5EF4-FFF2-40B4-BE49-F238E27FC236}">
                <a16:creationId xmlns:a16="http://schemas.microsoft.com/office/drawing/2014/main" id="{5E20387F-8F23-C44C-8268-B1A0E8707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1" y="1416447"/>
            <a:ext cx="2617421" cy="3823613"/>
          </a:xfrm>
          <a:prstGeom prst="rect">
            <a:avLst/>
          </a:prstGeom>
        </p:spPr>
      </p:pic>
      <p:pic>
        <p:nvPicPr>
          <p:cNvPr id="1026" name="Picture 2" descr="page2image3989999024">
            <a:extLst>
              <a:ext uri="{FF2B5EF4-FFF2-40B4-BE49-F238E27FC236}">
                <a16:creationId xmlns:a16="http://schemas.microsoft.com/office/drawing/2014/main" id="{93D32CC6-AA5B-4F4F-B61D-33A67FAED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543" y="1416447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41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Equipa de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Apresentação das competência do «Tomas Martins»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434627" y="1520152"/>
            <a:ext cx="8635835" cy="5514636"/>
          </a:xfrm>
        </p:spPr>
        <p:txBody>
          <a:bodyPr/>
          <a:lstStyle/>
          <a:p>
            <a:pPr marL="0" indent="0" algn="just">
              <a:buNone/>
            </a:pPr>
            <a:r>
              <a:rPr lang="pt-PT" dirty="0">
                <a:solidFill>
                  <a:schemeClr val="tx1"/>
                </a:solidFill>
              </a:rPr>
              <a:t>Tomas </a:t>
            </a:r>
            <a:r>
              <a:rPr lang="pt-PT" dirty="0" err="1">
                <a:solidFill>
                  <a:schemeClr val="tx1"/>
                </a:solidFill>
              </a:rPr>
              <a:t>Ahnfelt</a:t>
            </a:r>
            <a:r>
              <a:rPr lang="pt-PT" dirty="0">
                <a:solidFill>
                  <a:schemeClr val="tx1"/>
                </a:solidFill>
              </a:rPr>
              <a:t> Rocha Martins (</a:t>
            </a:r>
            <a:r>
              <a:rPr lang="pt-P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tomas@ahnfelt.com</a:t>
            </a:r>
            <a:r>
              <a:rPr lang="pt-PT" dirty="0">
                <a:solidFill>
                  <a:schemeClr val="tx1"/>
                </a:solidFill>
              </a:rPr>
              <a:t>)</a:t>
            </a:r>
          </a:p>
          <a:p>
            <a:pPr algn="just"/>
            <a:r>
              <a:rPr lang="pt-PT" dirty="0">
                <a:solidFill>
                  <a:schemeClr val="tx1"/>
                </a:solidFill>
              </a:rPr>
              <a:t>Estudante de Engenharia Informática</a:t>
            </a:r>
            <a:endParaRPr lang="pt-PT" dirty="0"/>
          </a:p>
          <a:p>
            <a:pPr marL="0" indent="0" algn="just">
              <a:buNone/>
            </a:pPr>
            <a:r>
              <a:rPr lang="pt-PT" sz="1800" dirty="0"/>
              <a:t>Tomas </a:t>
            </a:r>
            <a:r>
              <a:rPr lang="pt-PT" sz="1800" dirty="0" err="1"/>
              <a:t>Ahnfelt</a:t>
            </a:r>
            <a:r>
              <a:rPr lang="pt-PT" sz="1800" dirty="0"/>
              <a:t> Rocha Martins (male) é estudante do 3º ano do curso de Engenharia Informática no IADE/Universidade Europeia. Antes estudou Biologia na Universidade de </a:t>
            </a:r>
            <a:r>
              <a:rPr lang="pt-PT" sz="1800" dirty="0" err="1"/>
              <a:t>Lund</a:t>
            </a:r>
            <a:r>
              <a:rPr lang="pt-PT" sz="1800" dirty="0"/>
              <a:t> e Fundamentos de ciência na </a:t>
            </a:r>
            <a:r>
              <a:rPr lang="pt-PT" sz="1800" dirty="0" err="1"/>
              <a:t>Universide</a:t>
            </a:r>
            <a:r>
              <a:rPr lang="pt-PT" sz="1800" dirty="0"/>
              <a:t> </a:t>
            </a:r>
            <a:r>
              <a:rPr lang="pt-PT" sz="1800" dirty="0" err="1"/>
              <a:t>Örebro</a:t>
            </a:r>
            <a:r>
              <a:rPr lang="pt-PT" sz="1800" dirty="0"/>
              <a:t>, ambas na Suécia.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Hard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-Trabalhou durante 3 anos na </a:t>
            </a:r>
            <a:r>
              <a:rPr lang="pt-PT" sz="1800" dirty="0" err="1"/>
              <a:t>Wrightia</a:t>
            </a:r>
            <a:r>
              <a:rPr lang="pt-PT" sz="1800" dirty="0"/>
              <a:t> AS, um ano com Web          	</a:t>
            </a:r>
            <a:r>
              <a:rPr lang="pt-PT" sz="1800" dirty="0" err="1"/>
              <a:t>Development</a:t>
            </a:r>
            <a:r>
              <a:rPr lang="pt-PT" sz="1800" dirty="0"/>
              <a:t> usando a plataforma JEKYLL </a:t>
            </a:r>
          </a:p>
          <a:p>
            <a:pPr marL="0" indent="0" algn="just">
              <a:buNone/>
            </a:pPr>
            <a:r>
              <a:rPr lang="pt-PT" sz="1800" dirty="0"/>
              <a:t>     -Trabalhou durante 2 anos como consultor júnior no projeto de          	desenvolvimento de Web </a:t>
            </a:r>
            <a:r>
              <a:rPr lang="pt-PT" sz="1800" dirty="0" err="1"/>
              <a:t>Services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-Java; </a:t>
            </a:r>
            <a:r>
              <a:rPr lang="pt-PT" sz="1800" dirty="0" err="1"/>
              <a:t>JavaScript</a:t>
            </a:r>
            <a:r>
              <a:rPr lang="pt-PT" sz="1800" dirty="0"/>
              <a:t>; </a:t>
            </a:r>
            <a:r>
              <a:rPr lang="pt-PT" sz="1800" dirty="0" err="1"/>
              <a:t>Python</a:t>
            </a:r>
            <a:r>
              <a:rPr lang="pt-PT" sz="1800" dirty="0"/>
              <a:t>; C; C#; SWIFT; KOTLIN</a:t>
            </a:r>
          </a:p>
          <a:p>
            <a:pPr algn="just"/>
            <a:r>
              <a:rPr lang="pt-PT" sz="1800" dirty="0">
                <a:solidFill>
                  <a:schemeClr val="tx1"/>
                </a:solidFill>
              </a:rPr>
              <a:t>Soft </a:t>
            </a:r>
            <a:r>
              <a:rPr lang="pt-PT" sz="1800" dirty="0" err="1">
                <a:solidFill>
                  <a:schemeClr val="tx1"/>
                </a:solidFill>
              </a:rPr>
              <a:t>Skills</a:t>
            </a:r>
            <a:endParaRPr lang="pt-PT" sz="18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pt-PT" sz="1800" dirty="0"/>
              <a:t>      - Web </a:t>
            </a:r>
            <a:r>
              <a:rPr lang="pt-PT" sz="1800" dirty="0" err="1"/>
              <a:t>Methods</a:t>
            </a:r>
            <a:endParaRPr lang="pt-PT" sz="1800" dirty="0"/>
          </a:p>
          <a:p>
            <a:pPr marL="0" indent="0" algn="just">
              <a:buNone/>
            </a:pPr>
            <a:r>
              <a:rPr lang="pt-PT" sz="1800" dirty="0"/>
              <a:t>      - SWIFT UI </a:t>
            </a:r>
          </a:p>
          <a:p>
            <a:pPr marL="0" indent="0" algn="just">
              <a:buNone/>
            </a:pPr>
            <a:r>
              <a:rPr lang="pt-PT" sz="1800" dirty="0"/>
              <a:t>      - Rails </a:t>
            </a:r>
          </a:p>
          <a:p>
            <a:pPr marL="0" indent="0" algn="just">
              <a:buNone/>
            </a:pPr>
            <a:endParaRPr lang="pt-PT" sz="1800" dirty="0"/>
          </a:p>
          <a:p>
            <a:pPr algn="just"/>
            <a:endParaRPr lang="pt-PT" dirty="0"/>
          </a:p>
          <a:p>
            <a:pPr marL="0" indent="0" algn="just">
              <a:buNone/>
            </a:pPr>
            <a:endParaRPr lang="pt-PT" dirty="0"/>
          </a:p>
          <a:p>
            <a:pPr marL="0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agem 6" descr="Uma imagem com pessoa, homem, teto, vermelho&#10;&#10;Descrição gerada automaticamente">
            <a:extLst>
              <a:ext uri="{FF2B5EF4-FFF2-40B4-BE49-F238E27FC236}">
                <a16:creationId xmlns:a16="http://schemas.microsoft.com/office/drawing/2014/main" id="{474CBD76-2D58-7C4F-B92A-B7D72E3DD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8" y="1520152"/>
            <a:ext cx="3176611" cy="3352324"/>
          </a:xfrm>
          <a:prstGeom prst="rect">
            <a:avLst/>
          </a:prstGeom>
        </p:spPr>
      </p:pic>
      <p:pic>
        <p:nvPicPr>
          <p:cNvPr id="8" name="Picture 2" descr="page2image3989999024">
            <a:extLst>
              <a:ext uri="{FF2B5EF4-FFF2-40B4-BE49-F238E27FC236}">
                <a16:creationId xmlns:a16="http://schemas.microsoft.com/office/drawing/2014/main" id="{B1B9DF75-0059-6B41-907C-72EB5E300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631" y="1520152"/>
            <a:ext cx="326190" cy="3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62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Apresentação da Entidade Promotora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Nancia</a:t>
            </a:r>
            <a:r>
              <a:rPr lang="pt-PT" dirty="0"/>
              <a:t> &amp; Tomas 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903959" y="1494734"/>
            <a:ext cx="7626389" cy="4046257"/>
          </a:xfrm>
        </p:spPr>
        <p:txBody>
          <a:bodyPr/>
          <a:lstStyle/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Github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>
                <a:hlinkClick r:id="rId2"/>
              </a:rPr>
              <a:t>https://github.com/nancialaudino/BloodBus</a:t>
            </a:r>
            <a:endParaRPr lang="pt-PT" dirty="0"/>
          </a:p>
          <a:p>
            <a:pPr marL="342900" lvl="1" indent="0" algn="just">
              <a:buNone/>
            </a:pPr>
            <a:r>
              <a:rPr lang="pt-PT" dirty="0"/>
              <a:t>  A equipa do projeto está composta por Tomas Martins e </a:t>
            </a:r>
            <a:r>
              <a:rPr lang="pt-PT" dirty="0" err="1"/>
              <a:t>Nancia</a:t>
            </a:r>
            <a:r>
              <a:rPr lang="pt-PT" dirty="0"/>
              <a:t> </a:t>
            </a:r>
            <a:r>
              <a:rPr lang="pt-PT" dirty="0" err="1"/>
              <a:t>Laudino</a:t>
            </a:r>
            <a:r>
              <a:rPr lang="pt-PT" dirty="0"/>
              <a:t>, Analistas de sistemas e Desenvolvedores de Software. </a:t>
            </a:r>
          </a:p>
          <a:p>
            <a:pPr marL="342900" lvl="1" indent="0" algn="just">
              <a:buNone/>
            </a:pPr>
            <a:endParaRPr lang="pt-PT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pt-PT" dirty="0" err="1">
                <a:solidFill>
                  <a:schemeClr val="tx1"/>
                </a:solidFill>
              </a:rPr>
              <a:t>Outcome</a:t>
            </a:r>
            <a:r>
              <a:rPr lang="pt-PT" dirty="0">
                <a:solidFill>
                  <a:schemeClr val="tx1"/>
                </a:solidFill>
              </a:rPr>
              <a:t>: </a:t>
            </a:r>
            <a:r>
              <a:rPr lang="pt-PT" dirty="0"/>
              <a:t>Esperamos, com este projeto, que a </a:t>
            </a:r>
            <a:r>
              <a:rPr lang="pt-PT" dirty="0" err="1"/>
              <a:t>prática</a:t>
            </a:r>
            <a:r>
              <a:rPr lang="pt-PT" dirty="0"/>
              <a:t> da </a:t>
            </a:r>
            <a:r>
              <a:rPr lang="pt-PT" dirty="0" err="1"/>
              <a:t>doação</a:t>
            </a:r>
            <a:r>
              <a:rPr lang="pt-PT" dirty="0"/>
              <a:t> de sangue seja estimulada e consequentemente o processo para encontrar doadores seja facilitado.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342900" lvl="1" indent="0" algn="just">
              <a:buNone/>
            </a:pPr>
            <a:endParaRPr lang="pt-PT" sz="1800" dirty="0"/>
          </a:p>
          <a:p>
            <a:pPr marL="342900" lvl="1" indent="0" algn="just">
              <a:buNone/>
            </a:pPr>
            <a:endParaRPr lang="pt-PT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pt-PT" dirty="0">
              <a:solidFill>
                <a:schemeClr val="tx1"/>
              </a:solidFill>
            </a:endParaRPr>
          </a:p>
          <a:p>
            <a:pPr marL="342900" lvl="1" indent="0" algn="just">
              <a:buNone/>
            </a:pP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Gráfico 9" descr="Inteligência Artificial">
            <a:extLst>
              <a:ext uri="{FF2B5EF4-FFF2-40B4-BE49-F238E27FC236}">
                <a16:creationId xmlns:a16="http://schemas.microsoft.com/office/drawing/2014/main" id="{B86C957B-0198-3149-80D0-E731915EA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72" y="1551612"/>
            <a:ext cx="2119635" cy="211963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F0FEEBE-7202-0E4D-91CF-EB980EB3A361}"/>
              </a:ext>
            </a:extLst>
          </p:cNvPr>
          <p:cNvSpPr txBox="1"/>
          <p:nvPr/>
        </p:nvSpPr>
        <p:spPr>
          <a:xfrm>
            <a:off x="444843" y="3648264"/>
            <a:ext cx="189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2">
                    <a:lumMod val="50000"/>
                  </a:schemeClr>
                </a:solidFill>
              </a:rPr>
              <a:t>Nancia</a:t>
            </a:r>
            <a:r>
              <a:rPr lang="pt-PT" b="1" dirty="0">
                <a:solidFill>
                  <a:schemeClr val="bg2">
                    <a:lumMod val="50000"/>
                  </a:schemeClr>
                </a:solidFill>
              </a:rPr>
              <a:t> &amp; Tomas</a:t>
            </a:r>
          </a:p>
        </p:txBody>
      </p:sp>
    </p:spTree>
    <p:extLst>
      <p:ext uri="{BB962C8B-B14F-4D97-AF65-F5344CB8AC3E}">
        <p14:creationId xmlns:p14="http://schemas.microsoft.com/office/powerpoint/2010/main" val="351674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Projecto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«</a:t>
            </a:r>
            <a:r>
              <a:rPr lang="pt-PT" dirty="0" err="1"/>
              <a:t>Blood</a:t>
            </a:r>
            <a:r>
              <a:rPr lang="pt-PT" dirty="0"/>
              <a:t> Bus»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Com o nosso projeto, virado para o sector da </a:t>
            </a:r>
            <a:r>
              <a:rPr lang="pt-PT" dirty="0" err="1"/>
              <a:t>saúde</a:t>
            </a:r>
            <a:r>
              <a:rPr lang="pt-PT" dirty="0"/>
              <a:t>, pretendemos desenvolver um sistema para um banco de sangue, ou </a:t>
            </a:r>
            <a:r>
              <a:rPr lang="pt-PT" dirty="0" err="1"/>
              <a:t>hemocentro</a:t>
            </a:r>
            <a:r>
              <a:rPr lang="pt-PT" dirty="0"/>
              <a:t>, que permita melhorar o atendimento, </a:t>
            </a:r>
            <a:r>
              <a:rPr lang="pt-PT" dirty="0" err="1"/>
              <a:t>segurança</a:t>
            </a:r>
            <a:r>
              <a:rPr lang="pt-PT" dirty="0"/>
              <a:t> e rapidez nos </a:t>
            </a:r>
            <a:r>
              <a:rPr lang="pt-PT" dirty="0" err="1"/>
              <a:t>serviços</a:t>
            </a:r>
            <a:r>
              <a:rPr lang="pt-PT" dirty="0"/>
              <a:t>. A </a:t>
            </a:r>
            <a:r>
              <a:rPr lang="pt-PT" dirty="0" err="1"/>
              <a:t>aplicação</a:t>
            </a:r>
            <a:r>
              <a:rPr lang="pt-PT" dirty="0"/>
              <a:t> tem como foco principal, a </a:t>
            </a:r>
            <a:r>
              <a:rPr lang="pt-PT" dirty="0" err="1"/>
              <a:t>marcação</a:t>
            </a:r>
            <a:r>
              <a:rPr lang="pt-PT" dirty="0"/>
              <a:t> para </a:t>
            </a:r>
            <a:r>
              <a:rPr lang="pt-PT" dirty="0" err="1"/>
              <a:t>doações</a:t>
            </a:r>
            <a:r>
              <a:rPr lang="pt-PT" dirty="0"/>
              <a:t> de sangue por doadores </a:t>
            </a:r>
            <a:r>
              <a:rPr lang="pt-PT" dirty="0" err="1"/>
              <a:t>voluntários</a:t>
            </a:r>
            <a:r>
              <a:rPr lang="pt-PT" dirty="0"/>
              <a:t>. Permitirá </a:t>
            </a:r>
            <a:r>
              <a:rPr lang="pt-PT" dirty="0" err="1"/>
              <a:t>também</a:t>
            </a:r>
            <a:r>
              <a:rPr lang="pt-PT" dirty="0"/>
              <a:t> aos </a:t>
            </a:r>
            <a:r>
              <a:rPr lang="pt-PT" dirty="0" err="1"/>
              <a:t>hemocentros</a:t>
            </a:r>
            <a:r>
              <a:rPr lang="pt-PT" dirty="0"/>
              <a:t> armazenar os doadores numa base de dados de formas a facilitar a </a:t>
            </a:r>
            <a:r>
              <a:rPr lang="pt-PT" dirty="0" err="1"/>
              <a:t>gestão</a:t>
            </a:r>
            <a:r>
              <a:rPr lang="pt-PT" dirty="0"/>
              <a:t> dos mesmos. Seguem alguns fatores críticos de sucesso:</a:t>
            </a:r>
          </a:p>
          <a:p>
            <a:r>
              <a:rPr lang="pt-PT" dirty="0"/>
              <a:t>O doador </a:t>
            </a:r>
            <a:r>
              <a:rPr lang="pt-PT" dirty="0" err="1"/>
              <a:t>não</a:t>
            </a:r>
            <a:r>
              <a:rPr lang="pt-PT" dirty="0"/>
              <a:t> precisará sair de casa, pois com o </a:t>
            </a:r>
            <a:r>
              <a:rPr lang="pt-PT" dirty="0" err="1"/>
              <a:t>endereço</a:t>
            </a:r>
            <a:r>
              <a:rPr lang="pt-PT" dirty="0"/>
              <a:t> inserido, o </a:t>
            </a:r>
            <a:r>
              <a:rPr lang="pt-PT" dirty="0" err="1"/>
              <a:t>hemocentro</a:t>
            </a:r>
            <a:r>
              <a:rPr lang="pt-PT" dirty="0"/>
              <a:t> procederá a recolha do sangue </a:t>
            </a:r>
            <a:r>
              <a:rPr lang="pt-PT" dirty="0" err="1"/>
              <a:t>através</a:t>
            </a:r>
            <a:r>
              <a:rPr lang="pt-PT" dirty="0"/>
              <a:t> das coordenadas </a:t>
            </a:r>
            <a:r>
              <a:rPr lang="pt-PT" dirty="0" err="1"/>
              <a:t>geográficas</a:t>
            </a:r>
            <a:r>
              <a:rPr lang="pt-PT" dirty="0"/>
              <a:t>. Desta forma minimiza-se os custos de </a:t>
            </a:r>
            <a:r>
              <a:rPr lang="pt-PT" dirty="0" err="1"/>
              <a:t>deslocação</a:t>
            </a:r>
            <a:r>
              <a:rPr lang="pt-PT" dirty="0"/>
              <a:t> e adapta-se os horários disponíveis dos doadores, de formas a incentivar o processo de </a:t>
            </a:r>
            <a:r>
              <a:rPr lang="pt-PT" dirty="0" err="1"/>
              <a:t>doação</a:t>
            </a:r>
            <a:r>
              <a:rPr lang="pt-PT" dirty="0"/>
              <a:t>.</a:t>
            </a:r>
          </a:p>
          <a:p>
            <a:r>
              <a:rPr lang="pt-PT" dirty="0"/>
              <a:t>Melhor </a:t>
            </a:r>
            <a:r>
              <a:rPr lang="pt-PT" dirty="0" err="1"/>
              <a:t>gestão</a:t>
            </a:r>
            <a:r>
              <a:rPr lang="pt-PT" dirty="0"/>
              <a:t> de doadores nos bancos de sangue</a:t>
            </a:r>
          </a:p>
          <a:p>
            <a:pPr marL="0" indent="0">
              <a:buNone/>
            </a:pPr>
            <a:endParaRPr lang="pt-PT" dirty="0"/>
          </a:p>
          <a:p>
            <a:pPr marL="342900" lvl="1" indent="0">
              <a:buNone/>
            </a:pPr>
            <a:endParaRPr lang="en-GB" i="1" dirty="0"/>
          </a:p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86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4CCA6-4B76-2048-822C-943DBB65C2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Âmbito &amp; Objetivos do </a:t>
            </a:r>
            <a:r>
              <a:rPr lang="pt-PT" dirty="0" err="1"/>
              <a:t>Projecto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5742E5-8941-F34F-9C42-AED674513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Tabela da  Análise Comparativa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F385C7B-F23A-8B4C-B610-3C30C385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5F46D21-F309-1548-8FF6-B1DBB3B26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27710"/>
              </p:ext>
            </p:extLst>
          </p:nvPr>
        </p:nvGraphicFramePr>
        <p:xfrm>
          <a:off x="1014241" y="1133924"/>
          <a:ext cx="10174690" cy="56408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564">
                  <a:extLst>
                    <a:ext uri="{9D8B030D-6E8A-4147-A177-3AD203B41FA5}">
                      <a16:colId xmlns:a16="http://schemas.microsoft.com/office/drawing/2014/main" val="4149982328"/>
                    </a:ext>
                  </a:extLst>
                </a:gridCol>
                <a:gridCol w="1655313">
                  <a:extLst>
                    <a:ext uri="{9D8B030D-6E8A-4147-A177-3AD203B41FA5}">
                      <a16:colId xmlns:a16="http://schemas.microsoft.com/office/drawing/2014/main" val="2908090787"/>
                    </a:ext>
                  </a:extLst>
                </a:gridCol>
                <a:gridCol w="2460664">
                  <a:extLst>
                    <a:ext uri="{9D8B030D-6E8A-4147-A177-3AD203B41FA5}">
                      <a16:colId xmlns:a16="http://schemas.microsoft.com/office/drawing/2014/main" val="3647645808"/>
                    </a:ext>
                  </a:extLst>
                </a:gridCol>
                <a:gridCol w="2115487">
                  <a:extLst>
                    <a:ext uri="{9D8B030D-6E8A-4147-A177-3AD203B41FA5}">
                      <a16:colId xmlns:a16="http://schemas.microsoft.com/office/drawing/2014/main" val="3592916873"/>
                    </a:ext>
                  </a:extLst>
                </a:gridCol>
                <a:gridCol w="2632662">
                  <a:extLst>
                    <a:ext uri="{9D8B030D-6E8A-4147-A177-3AD203B41FA5}">
                      <a16:colId xmlns:a16="http://schemas.microsoft.com/office/drawing/2014/main" val="574186876"/>
                    </a:ext>
                  </a:extLst>
                </a:gridCol>
              </a:tblGrid>
              <a:tr h="446931"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Nome do Produto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Ranking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Fator competitivo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Logotipo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>
                          <a:effectLst/>
                        </a:rPr>
                        <a:t>Site</a:t>
                      </a:r>
                    </a:p>
                    <a:p>
                      <a:pPr algn="ctr"/>
                      <a:r>
                        <a:rPr lang="pt-PT" sz="1400" dirty="0">
                          <a:effectLst/>
                        </a:rPr>
                        <a:t> </a:t>
                      </a:r>
                      <a:endParaRPr lang="pt-PT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613708822"/>
                  </a:ext>
                </a:extLst>
              </a:tr>
              <a:tr h="84641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Dador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Custos de Implementação (são mais baixos)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dador.pt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739549641"/>
                  </a:ext>
                </a:extLst>
              </a:tr>
              <a:tr h="145104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Banco de Sangue Animal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Hemocalculadora</a:t>
                      </a:r>
                      <a:r>
                        <a:rPr lang="pt-PT" sz="1200" dirty="0">
                          <a:effectLst/>
                        </a:rPr>
                        <a:t>, que calcula automaticamente volumes e velocidades de administração de sangue por espécie e peso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r>
                        <a:rPr lang="pt-PT" sz="1200" dirty="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bsanimal.com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lang</a:t>
                      </a:r>
                      <a:r>
                        <a:rPr lang="pt-PT" sz="1200" dirty="0">
                          <a:effectLst/>
                        </a:rPr>
                        <a:t>=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3012136182"/>
                  </a:ext>
                </a:extLst>
              </a:tr>
              <a:tr h="1269666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Uber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 </a:t>
                      </a:r>
                      <a:r>
                        <a:rPr lang="en-US" sz="1200" dirty="0" err="1">
                          <a:effectLst/>
                        </a:rPr>
                        <a:t>estrelas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na</a:t>
                      </a:r>
                      <a:r>
                        <a:rPr lang="en-US" sz="1200" dirty="0">
                          <a:effectLst/>
                        </a:rPr>
                        <a:t> App Store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Best Global Websites</a:t>
                      </a:r>
                      <a:r>
                        <a:rPr lang="pt-PT" sz="1200" u="none" dirty="0">
                          <a:effectLst/>
                        </a:rPr>
                        <a:t> </a:t>
                      </a:r>
                      <a:r>
                        <a:rPr lang="en-US" sz="1200" u="none" dirty="0">
                          <a:effectLst/>
                        </a:rPr>
                        <a:t>by Byte Level Research – 10ª </a:t>
                      </a:r>
                      <a:r>
                        <a:rPr lang="en-US" sz="1200" u="none" dirty="0" err="1">
                          <a:effectLst/>
                        </a:rPr>
                        <a:t>Posição</a:t>
                      </a:r>
                      <a:endParaRPr lang="pt-PT" sz="1200" u="none" dirty="0">
                        <a:effectLst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Optimização</a:t>
                      </a:r>
                      <a:r>
                        <a:rPr lang="pt-PT" sz="1200" dirty="0">
                          <a:effectLst/>
                        </a:rPr>
                        <a:t> e rastreio das rotas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www.uber.com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r>
                        <a:rPr lang="pt-PT" sz="1200" dirty="0" err="1">
                          <a:effectLst/>
                        </a:rPr>
                        <a:t>pt-pt</a:t>
                      </a:r>
                      <a:r>
                        <a:rPr lang="pt-PT" sz="1200" dirty="0">
                          <a:effectLst/>
                        </a:rPr>
                        <a:t>/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2315824200"/>
                  </a:ext>
                </a:extLst>
              </a:tr>
              <a:tr h="1604284"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 err="1">
                          <a:effectLst/>
                        </a:rPr>
                        <a:t>Easy</a:t>
                      </a:r>
                      <a:r>
                        <a:rPr lang="pt-PT" sz="1200" dirty="0">
                          <a:effectLst/>
                        </a:rPr>
                        <a:t> </a:t>
                      </a:r>
                      <a:r>
                        <a:rPr lang="pt-PT" sz="1200" dirty="0" err="1">
                          <a:effectLst/>
                        </a:rPr>
                        <a:t>Med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endParaRPr lang="pt-PT" sz="1200" dirty="0">
                        <a:effectLst/>
                      </a:endParaRPr>
                    </a:p>
                    <a:p>
                      <a:pPr algn="ctr"/>
                      <a:r>
                        <a:rPr lang="pt-PT" sz="1200" dirty="0">
                          <a:effectLst/>
                        </a:rPr>
                        <a:t>N/A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 </a:t>
                      </a:r>
                    </a:p>
                    <a:p>
                      <a:pPr algn="ctr"/>
                      <a:r>
                        <a:rPr lang="pt-PT" sz="1200">
                          <a:effectLst/>
                        </a:rPr>
                        <a:t>Flexibilidade e serviços inovadores</a:t>
                      </a:r>
                      <a:endParaRPr lang="pt-PT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effectLst/>
                        </a:rPr>
                        <a:t> 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effectLst/>
                        </a:rPr>
                        <a:t>https</a:t>
                      </a:r>
                      <a:r>
                        <a:rPr lang="pt-PT" sz="1200" dirty="0">
                          <a:effectLst/>
                        </a:rPr>
                        <a:t>://</a:t>
                      </a:r>
                      <a:r>
                        <a:rPr lang="pt-PT" sz="1200" dirty="0" err="1">
                          <a:effectLst/>
                        </a:rPr>
                        <a:t>easy-med.pt</a:t>
                      </a:r>
                      <a:r>
                        <a:rPr lang="pt-PT" sz="1200" dirty="0">
                          <a:effectLst/>
                        </a:rPr>
                        <a:t>/?</a:t>
                      </a:r>
                      <a:r>
                        <a:rPr lang="pt-PT" sz="1200" dirty="0" err="1">
                          <a:effectLst/>
                        </a:rPr>
                        <a:t>gclid</a:t>
                      </a:r>
                      <a:r>
                        <a:rPr lang="pt-PT" sz="1200" dirty="0">
                          <a:effectLst/>
                        </a:rPr>
                        <a:t>=Cj0KCQiAqdP9BRDVARIsAGSZ8AmesUQjCV7uZk4RZ76cWqjM9ItgfG5z-zWbuAylESLyegea8tG-ze8aAsgWEALw_wcB</a:t>
                      </a:r>
                      <a:endParaRPr lang="pt-PT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948" marR="50948" marT="0" marB="0"/>
                </a:tc>
                <a:extLst>
                  <a:ext uri="{0D108BD9-81ED-4DB2-BD59-A6C34878D82A}">
                    <a16:rowId xmlns:a16="http://schemas.microsoft.com/office/drawing/2014/main" val="4228233006"/>
                  </a:ext>
                </a:extLst>
              </a:tr>
            </a:tbl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FD9E92C6-E228-B54D-A370-A13291BB7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4" y="4090781"/>
            <a:ext cx="1181100" cy="596900"/>
          </a:xfrm>
          <a:prstGeom prst="rect">
            <a:avLst/>
          </a:prstGeom>
        </p:spPr>
      </p:pic>
      <p:pic>
        <p:nvPicPr>
          <p:cNvPr id="15" name="Imagem 14" descr="Uma imagem com texto&#10;&#10;Descrição gerada automaticamente">
            <a:extLst>
              <a:ext uri="{FF2B5EF4-FFF2-40B4-BE49-F238E27FC236}">
                <a16:creationId xmlns:a16="http://schemas.microsoft.com/office/drawing/2014/main" id="{BBB0D26B-B13E-134A-8885-D714AE554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747" y="2834228"/>
            <a:ext cx="1501369" cy="304766"/>
          </a:xfrm>
          <a:prstGeom prst="rect">
            <a:avLst/>
          </a:prstGeom>
        </p:spPr>
      </p:pic>
      <p:pic>
        <p:nvPicPr>
          <p:cNvPr id="17" name="Imagem 16" descr="Uma imagem com texto, ClipArt&#10;&#10;Descrição gerada automaticamente">
            <a:extLst>
              <a:ext uri="{FF2B5EF4-FFF2-40B4-BE49-F238E27FC236}">
                <a16:creationId xmlns:a16="http://schemas.microsoft.com/office/drawing/2014/main" id="{6BF97AC2-DA24-504D-8BB8-63BAE52DC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280" y="5505789"/>
            <a:ext cx="1763207" cy="427444"/>
          </a:xfrm>
          <a:prstGeom prst="rect">
            <a:avLst/>
          </a:prstGeom>
        </p:spPr>
      </p:pic>
      <p:pic>
        <p:nvPicPr>
          <p:cNvPr id="19" name="Imagem 18" descr="Uma imagem com texto, interior&#10;&#10;Descrição gerada automaticamente">
            <a:extLst>
              <a:ext uri="{FF2B5EF4-FFF2-40B4-BE49-F238E27FC236}">
                <a16:creationId xmlns:a16="http://schemas.microsoft.com/office/drawing/2014/main" id="{8375FA6A-C7C5-D149-82C6-7C99392BBE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0701" b="78502"/>
          <a:stretch/>
        </p:blipFill>
        <p:spPr>
          <a:xfrm>
            <a:off x="6794963" y="1755692"/>
            <a:ext cx="1333842" cy="4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065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Contexto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br>
              <a:rPr lang="en-GB" dirty="0"/>
            </a:b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DF33BF3-A49F-8847-A457-D9DB9D2C5F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1" t="-3243" r="4564" b="411"/>
          <a:stretch/>
        </p:blipFill>
        <p:spPr>
          <a:xfrm>
            <a:off x="3256548" y="436837"/>
            <a:ext cx="7444145" cy="64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15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Lista de </a:t>
            </a:r>
            <a:r>
              <a:rPr lang="pt-PT" dirty="0" err="1"/>
              <a:t>TO-DO’s</a:t>
            </a: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372" y="2432127"/>
            <a:ext cx="9958128" cy="1655762"/>
          </a:xfrm>
        </p:spPr>
        <p:txBody>
          <a:bodyPr/>
          <a:lstStyle/>
          <a:p>
            <a:r>
              <a:rPr lang="pt-PT" sz="2800" dirty="0"/>
              <a:t>2º </a:t>
            </a:r>
            <a:r>
              <a:rPr lang="pt-PT" sz="2800" dirty="0" err="1"/>
              <a:t>Pitch</a:t>
            </a:r>
            <a:r>
              <a:rPr lang="pt-PT" sz="2800" dirty="0"/>
              <a:t> – </a:t>
            </a:r>
            <a:r>
              <a:rPr lang="pt-PT" sz="2800" dirty="0" err="1"/>
              <a:t>Diag</a:t>
            </a:r>
            <a:r>
              <a:rPr lang="pt-PT" sz="2800" dirty="0"/>
              <a:t>. formais usando a notação UML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Casos de Utilização (</a:t>
            </a:r>
            <a:r>
              <a:rPr lang="en-GB" sz="1800" b="0" i="1" dirty="0"/>
              <a:t>Use Case diagram</a:t>
            </a:r>
            <a:r>
              <a:rPr lang="pt-PT" sz="1800" b="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1800" b="0" dirty="0" err="1"/>
              <a:t>Diag</a:t>
            </a:r>
            <a:r>
              <a:rPr lang="pt-PT" sz="1800" b="0" dirty="0"/>
              <a:t>. de Modelo Domínio (</a:t>
            </a:r>
            <a:r>
              <a:rPr lang="en-GB" sz="1800" b="0" i="1" dirty="0"/>
              <a:t>Class diagram</a:t>
            </a:r>
            <a:r>
              <a:rPr lang="pt-PT" sz="1800" b="0" dirty="0"/>
              <a:t>)</a:t>
            </a:r>
          </a:p>
          <a:p>
            <a:endParaRPr lang="pt-PT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dirty="0"/>
              <a:t>Deadline: </a:t>
            </a:r>
            <a:r>
              <a:rPr lang="pt-PT" b="1" dirty="0"/>
              <a:t>09.nov.2018</a:t>
            </a:r>
          </a:p>
        </p:txBody>
      </p:sp>
    </p:spTree>
    <p:extLst>
      <p:ext uri="{BB962C8B-B14F-4D97-AF65-F5344CB8AC3E}">
        <p14:creationId xmlns:p14="http://schemas.microsoft.com/office/powerpoint/2010/main" val="343566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Levantamento de Requisitos Funcionais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AC603FA-4A85-054F-8E1F-159EB0E98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49009"/>
              </p:ext>
            </p:extLst>
          </p:nvPr>
        </p:nvGraphicFramePr>
        <p:xfrm>
          <a:off x="1358607" y="1239658"/>
          <a:ext cx="7984898" cy="4873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953">
                  <a:extLst>
                    <a:ext uri="{9D8B030D-6E8A-4147-A177-3AD203B41FA5}">
                      <a16:colId xmlns:a16="http://schemas.microsoft.com/office/drawing/2014/main" val="352029435"/>
                    </a:ext>
                  </a:extLst>
                </a:gridCol>
                <a:gridCol w="2708295">
                  <a:extLst>
                    <a:ext uri="{9D8B030D-6E8A-4147-A177-3AD203B41FA5}">
                      <a16:colId xmlns:a16="http://schemas.microsoft.com/office/drawing/2014/main" val="2752189600"/>
                    </a:ext>
                  </a:extLst>
                </a:gridCol>
                <a:gridCol w="4056478">
                  <a:extLst>
                    <a:ext uri="{9D8B030D-6E8A-4147-A177-3AD203B41FA5}">
                      <a16:colId xmlns:a16="http://schemas.microsoft.com/office/drawing/2014/main" val="2723534038"/>
                    </a:ext>
                  </a:extLst>
                </a:gridCol>
                <a:gridCol w="660172">
                  <a:extLst>
                    <a:ext uri="{9D8B030D-6E8A-4147-A177-3AD203B41FA5}">
                      <a16:colId xmlns:a16="http://schemas.microsoft.com/office/drawing/2014/main" val="1313366606"/>
                    </a:ext>
                  </a:extLst>
                </a:gridCol>
              </a:tblGrid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#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Nome do Requisito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Descrição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Pri.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42322942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Avaliar pré requisitos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O sistema vai avaliar se os dadores cumprem com os pré requisitos para efetivar 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4572924"/>
                  </a:ext>
                </a:extLst>
              </a:tr>
              <a:tr h="49615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FR2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Ver detalhes da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visualizar a marcação, ver todos os dados que outrora foram inseridos, de formas a verificar erros que poderão ser corrigidos com antecedência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991216104"/>
                  </a:ext>
                </a:extLst>
              </a:tr>
              <a:tr h="570066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FR3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Editar dados da marcação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ao utilizador editar os dados das marcações (por exemplo caso o utilizador altere a morada ou o número de telemóvel)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003963219"/>
                  </a:ext>
                </a:extLst>
              </a:tr>
              <a:tr h="190022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FR4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Cancelar Marcação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utilizador poderá cancelar marcações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Alta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76622664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FR5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Consultar Histórico de doações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O sistema permitirá consultar as doações já realizadas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3846459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FR6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Enviar dados de recolhas para a equipa de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enviará a informação sobre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16827638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FR7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Criação de conta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Os utilizadores da aplicação criarão uma conta para aceder à aplicação (no caso do dador é opcional).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697037563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FR8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Consultar lista de marcações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administrador poderá consultar a lista de todas as marcações existentes no sistema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5904146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FR9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Reportar falha na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terá uma caixa de mensagem que permitirá a equipa de recolha informar porquê que a recolha falhou.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Baixa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983861106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FR10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Confirmar que a recolha foi realizada com sucesso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2999849218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FR11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Localizar o endereço do dador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encontrar a localização exata do dador para que se possa fazer a recolha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Alta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3822562575"/>
                  </a:ext>
                </a:extLst>
              </a:tr>
              <a:tr h="380044">
                <a:tc>
                  <a:txBody>
                    <a:bodyPr/>
                    <a:lstStyle/>
                    <a:p>
                      <a:r>
                        <a:rPr lang="pt-PT" sz="1100">
                          <a:effectLst/>
                        </a:rPr>
                        <a:t>FR12</a:t>
                      </a:r>
                    </a:p>
                    <a:p>
                      <a:r>
                        <a:rPr lang="pt-PT" sz="1100">
                          <a:effectLst/>
                        </a:rPr>
                        <a:t> </a:t>
                      </a:r>
                      <a:endParaRPr lang="pt-P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Agrupar marcações por zonas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O sistema permitirá que as marcações sejam agrupadas dependo da proximidade das mesmas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effectLst/>
                        </a:rPr>
                        <a:t> Média</a:t>
                      </a:r>
                      <a:endParaRPr lang="pt-P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0435" marR="60435" marT="0" marB="0"/>
                </a:tc>
                <a:extLst>
                  <a:ext uri="{0D108BD9-81ED-4DB2-BD59-A6C34878D82A}">
                    <a16:rowId xmlns:a16="http://schemas.microsoft.com/office/drawing/2014/main" val="163946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8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Diagrama de Casos de Utilização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r>
              <a:rPr lang="pt-PT" dirty="0"/>
              <a:t> / Módulo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AF8610E-429C-F34E-9C75-3F1813EE30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98" t="-126" r="8811" b="2145"/>
          <a:stretch/>
        </p:blipFill>
        <p:spPr>
          <a:xfrm>
            <a:off x="2046859" y="1095443"/>
            <a:ext cx="7730836" cy="576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4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UC1 – Marcar Recolha</a:t>
            </a:r>
            <a:br>
              <a:rPr lang="en-GB" dirty="0"/>
            </a:b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87186"/>
              </p:ext>
            </p:extLst>
          </p:nvPr>
        </p:nvGraphicFramePr>
        <p:xfrm>
          <a:off x="838970" y="1041943"/>
          <a:ext cx="10514059" cy="5458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63740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utilizador ao aceder à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encontrará um conjunto de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lhe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úteis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ao cadastrar-se. Durante o cadastro, o doador deverá preencher alguns campos tais como: nome, idade,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género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peso e altura.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Tera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ainda que cumprir um conjunto de requisitos para efetivar a sua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onde posteriormente essa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é enviada ao banco de sangue para proceder a recolha do sangue, de acordo com a data e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horário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escolhidos pelo doador. </a:t>
                      </a:r>
                    </a:p>
                    <a:p>
                      <a:endParaRPr lang="pt-PT" sz="1100" b="0"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cadastrado</a:t>
                      </a:r>
                    </a:p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95901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dador seleciona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“Marcar Recolha”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1.2 O dador preenche os dados pessoais (nome, data de nascimento,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género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email)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1.3. O dador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1.4 O dador responde às perguntas que correspondem às pré-condições para doar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O sistema analisa se o dador cumpre 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́-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 a resposta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afirmativa para uma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2.1 O dador clica em “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próximo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2.2 O dador preenche os dados para recolha (morada, telemóvel, horário)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O sistema conclui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guarda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 base de dados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76145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Se o dador não cumprir com as pré condições, o sistema automaticamente anula a marcação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75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UC2 – Gerir dadores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031126"/>
              </p:ext>
            </p:extLst>
          </p:nvPr>
        </p:nvGraphicFramePr>
        <p:xfrm>
          <a:off x="838970" y="1479405"/>
          <a:ext cx="10514059" cy="3999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7053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utilizadores administradores da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gerir toda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dos doadores, desde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procura e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toda 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existente no sistema. Como dito anteriormente, devido a determinados fatores, nem todos os utilizadores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uso da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pelo que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poderão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fazer as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presencialmente, no banco de sangue. Estes fatores, entre muitos outros, incluem a idade e a falta de acessibilidade ou conhecimento </a:t>
                      </a:r>
                      <a:r>
                        <a:rPr lang="pt-PT" sz="11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tecnológico</a:t>
                      </a:r>
                      <a:r>
                        <a:rPr lang="pt-PT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endParaRPr lang="pt-PT" sz="11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admnistrador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entra na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aplicação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 seleciona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pretende executar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Para criar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deverá clicar na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“Marcar Recolha” e seguir os passos citados no use case anterior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Para editar ou remover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basta clicar no nome do dador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De seguida deverá realizar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desejada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deverá clicar em “Guardar”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O sistema fará 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atualização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Alternativo 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9697230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atualiza a lista das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marcações</a:t>
                      </a:r>
                      <a:b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estara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́ pronto para efetuar novas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operações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1100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294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47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UC3 – Estado da recolha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4240" y="747696"/>
            <a:ext cx="9516107" cy="386228"/>
          </a:xfrm>
        </p:spPr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493676"/>
              </p:ext>
            </p:extLst>
          </p:nvPr>
        </p:nvGraphicFramePr>
        <p:xfrm>
          <a:off x="868680" y="1904837"/>
          <a:ext cx="10514059" cy="35089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242">
                  <a:extLst>
                    <a:ext uri="{9D8B030D-6E8A-4147-A177-3AD203B41FA5}">
                      <a16:colId xmlns:a16="http://schemas.microsoft.com/office/drawing/2014/main" val="3895037718"/>
                    </a:ext>
                  </a:extLst>
                </a:gridCol>
                <a:gridCol w="9437817">
                  <a:extLst>
                    <a:ext uri="{9D8B030D-6E8A-4147-A177-3AD203B41FA5}">
                      <a16:colId xmlns:a16="http://schemas.microsoft.com/office/drawing/2014/main" val="2470807427"/>
                    </a:ext>
                  </a:extLst>
                </a:gridCol>
              </a:tblGrid>
              <a:tr h="53465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Descrição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Neste caso de utilização,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após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 feita a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marcação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pretendemos que a equipa de recolha envie o estado em que as recolhas se encontram. O sistema disponibilizará 3 opções: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Concluida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Cancelada e Pendente. Caso falhe, a equipa de recolha terá de informar qual a razão (Ex: acidente, falha ao localizar o dador, </a:t>
                      </a:r>
                      <a:r>
                        <a:rPr lang="pt-PT" sz="11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pt-PT" sz="11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pt-PT" sz="1100" b="0" dirty="0">
                        <a:effectLst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021348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>
                          <a:effectLst/>
                        </a:rPr>
                        <a:t>Pré-condições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Estar autenticado como </a:t>
                      </a:r>
                      <a:r>
                        <a:rPr lang="pt-PT" sz="11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funcionário</a:t>
                      </a: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/Equipa de recolha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2038629"/>
                  </a:ext>
                </a:extLst>
              </a:tr>
              <a:tr h="159666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Principal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pt-PT" sz="1100" kern="120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O sistema envia a lista de marcações ordenadas por datas 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2. O funcionário da equipa de recolha clica na marcação mais próxima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 2.1 Funcionário clica em ”iniciar recolha”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 2.1. O sistema calcula a rota até ao endereço do dador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3. Funcionário finaliza recolha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 3.1 O sistema atualiza o estado da recolha para: Finalizada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3124833"/>
                  </a:ext>
                </a:extLst>
              </a:tr>
              <a:tr h="62894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Cenário de Exceção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Caso 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recolha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falhe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dador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deverá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inserir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um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explicar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motivo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falha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3.1 O Sistema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atualiza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estado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recolha</a:t>
                      </a:r>
                      <a:r>
                        <a:rPr lang="en-GB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para: </a:t>
                      </a:r>
                      <a:r>
                        <a:rPr lang="en-GB" sz="1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Cancelada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977545"/>
                  </a:ext>
                </a:extLst>
              </a:tr>
              <a:tr h="30637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effectLst/>
                        </a:rPr>
                        <a:t>Pós-Condições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N/A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879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04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Modelo de Domínio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Sistema </a:t>
            </a:r>
            <a:r>
              <a:rPr lang="pt-PT" dirty="0" err="1"/>
              <a:t>BloodBus</a:t>
            </a:r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5FF0AE6-0CFA-8741-B67A-290A6D2D0B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4" t="4310" r="8651"/>
          <a:stretch/>
        </p:blipFill>
        <p:spPr>
          <a:xfrm>
            <a:off x="2660073" y="1071861"/>
            <a:ext cx="7680960" cy="573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3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F9C4-F4EF-4D14-AE50-840010EB7E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Sprint </a:t>
            </a:r>
            <a:r>
              <a:rPr lang="pt-PT" dirty="0" err="1"/>
              <a:t>Retrospective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F6282-AB7A-415D-BB5A-9357C9280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Sprint # (17/11/2020)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28115-1C6F-4B3A-A49F-502A3558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469E3-F7C2-0343-AD03-CE704401D5F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9B481-5901-44DA-8048-313007DB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96200"/>
              </p:ext>
            </p:extLst>
          </p:nvPr>
        </p:nvGraphicFramePr>
        <p:xfrm>
          <a:off x="563526" y="1318662"/>
          <a:ext cx="10781414" cy="4687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0707">
                  <a:extLst>
                    <a:ext uri="{9D8B030D-6E8A-4147-A177-3AD203B41FA5}">
                      <a16:colId xmlns:a16="http://schemas.microsoft.com/office/drawing/2014/main" val="737064853"/>
                    </a:ext>
                  </a:extLst>
                </a:gridCol>
                <a:gridCol w="5390707">
                  <a:extLst>
                    <a:ext uri="{9D8B030D-6E8A-4147-A177-3AD203B41FA5}">
                      <a16:colId xmlns:a16="http://schemas.microsoft.com/office/drawing/2014/main" val="1973091912"/>
                    </a:ext>
                  </a:extLst>
                </a:gridCol>
              </a:tblGrid>
              <a:tr h="503653"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positivos - O que correu bem</a:t>
                      </a:r>
                      <a:endParaRPr lang="pt-PT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Aspetos a melhorar</a:t>
                      </a:r>
                      <a:endParaRPr lang="pt-PT" noProof="0" dirty="0"/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00904"/>
                  </a:ext>
                </a:extLst>
              </a:tr>
              <a:tr h="184009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Benchmarking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requisitos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dominio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 da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aplicação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Planeamento</a:t>
                      </a:r>
                      <a:r>
                        <a:rPr lang="en-US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tarefas</a:t>
                      </a: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968583"/>
                  </a:ext>
                </a:extLst>
              </a:tr>
              <a:tr h="503653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PT" sz="1800" b="0" i="0" kern="1200" noProof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o próximo sprint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7C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PT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32719"/>
                  </a:ext>
                </a:extLst>
              </a:tr>
              <a:tr h="184009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Levantamento de requisitos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Modelo do domínio atualizado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 kern="12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Mockups</a:t>
                      </a: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 kern="1200" dirty="0">
                        <a:solidFill>
                          <a:schemeClr val="bg2">
                            <a:lumMod val="10000"/>
                          </a:schemeClr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13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ureate">
      <a:dk1>
        <a:srgbClr val="DE3831"/>
      </a:dk1>
      <a:lt1>
        <a:sysClr val="window" lastClr="FFFFFF"/>
      </a:lt1>
      <a:dk2>
        <a:srgbClr val="DE3831"/>
      </a:dk2>
      <a:lt2>
        <a:srgbClr val="E7E6E6"/>
      </a:lt2>
      <a:accent1>
        <a:srgbClr val="EB5D13"/>
      </a:accent1>
      <a:accent2>
        <a:srgbClr val="F59100"/>
      </a:accent2>
      <a:accent3>
        <a:srgbClr val="A10E2F"/>
      </a:accent3>
      <a:accent4>
        <a:srgbClr val="40ACB6"/>
      </a:accent4>
      <a:accent5>
        <a:srgbClr val="706F6F"/>
      </a:accent5>
      <a:accent6>
        <a:srgbClr val="3363AC"/>
      </a:accent6>
      <a:hlink>
        <a:srgbClr val="0563C1"/>
      </a:hlink>
      <a:folHlink>
        <a:srgbClr val="954F72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5566</TotalTime>
  <Words>1718</Words>
  <Application>Microsoft Macintosh PowerPoint</Application>
  <PresentationFormat>Ecrã Panorâmico</PresentationFormat>
  <Paragraphs>267</Paragraphs>
  <Slides>15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Verdana</vt:lpstr>
      <vt:lpstr>Office Theme</vt:lpstr>
      <vt:lpstr>«BloodBus»</vt:lpstr>
      <vt:lpstr>Equipa de projecto</vt:lpstr>
      <vt:lpstr>Equipa de projecto</vt:lpstr>
      <vt:lpstr>Apresentação da Entidade Promotora</vt:lpstr>
      <vt:lpstr>Âmbito &amp; Objetivos do Projecto</vt:lpstr>
      <vt:lpstr>Âmbito &amp; Objetivos do Projecto</vt:lpstr>
      <vt:lpstr>Diagrama de Contexto</vt:lpstr>
      <vt:lpstr>Lista de TO-DO’s</vt:lpstr>
      <vt:lpstr>Levantamento de Requisitos Funcionais</vt:lpstr>
      <vt:lpstr>Diagrama de Casos de Utilização </vt:lpstr>
      <vt:lpstr>UC1 – Marcar Recolha </vt:lpstr>
      <vt:lpstr>UC2 – Gerir dadores</vt:lpstr>
      <vt:lpstr>UC3 – Estado da recolha </vt:lpstr>
      <vt:lpstr>Modelo de Domínio </vt:lpstr>
      <vt:lpstr>Sprint 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Yaiza Díaz</dc:creator>
  <cp:lastModifiedBy>Nancia Laudino</cp:lastModifiedBy>
  <cp:revision>191</cp:revision>
  <dcterms:created xsi:type="dcterms:W3CDTF">2017-01-02T11:35:00Z</dcterms:created>
  <dcterms:modified xsi:type="dcterms:W3CDTF">2020-11-26T23:27:58Z</dcterms:modified>
</cp:coreProperties>
</file>